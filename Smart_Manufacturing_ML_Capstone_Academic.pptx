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4472B0"/>
                </a:solidFill>
                <a:latin typeface="Aptos"/>
              </a:rPr>
              <a:t>SMART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  <a:latin typeface="Aptos"/>
              </a:rPr>
              <a:t>Machine Learning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88136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0">
                <a:solidFill>
                  <a:srgbClr val="232A32"/>
                </a:solidFill>
                <a:latin typeface="Aptos"/>
              </a:rPr>
              <a:t>Regression · Classification · Clustering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880360"/>
            <a:ext cx="8138160" cy="36576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232A32"/>
                </a:solidFill>
                <a:latin typeface="Aptos"/>
              </a:rPr>
              <a:t>23CSE301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0">
                <a:solidFill>
                  <a:srgbClr val="59636E"/>
                </a:solidFill>
                <a:latin typeface="Aptos"/>
              </a:rPr>
              <a:t>Amrita Vishwa Vidyapeetham, Coimbatore
Department of Computer Science and Engineering
Academic Year 2026–27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10332720" cy="8686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0">
                <a:solidFill>
                  <a:srgbClr val="232A32"/>
                </a:solidFill>
                <a:latin typeface="Aptos"/>
              </a:rPr>
              <a:t>Sai Rakesh Reddy  ·  CB.SC.U4CSE24517
Akhil Reddy  ·  CB.SC.U4CSE24518
Varanasi Rohit  ·  CB.SC.U4CSE24561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Introduction and manufacturing motivation</a:t>
            </a:r>
          </a:p>
          <a:p>
            <a:pPr>
              <a:spcAft>
                <a:spcPts val="5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Dataset audit, EDA and domain observations</a:t>
            </a:r>
          </a:p>
          <a:p>
            <a:pPr>
              <a:spcAft>
                <a:spcPts val="5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Preprocessing and feature engineering</a:t>
            </a:r>
          </a:p>
          <a:p>
            <a:pPr>
              <a:spcAft>
                <a:spcPts val="5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Regression: comparison, tuning and diagnostics</a:t>
            </a:r>
          </a:p>
          <a:p>
            <a:pPr>
              <a:spcAft>
                <a:spcPts val="5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Classification: ten-model comparison and final selection</a:t>
            </a:r>
          </a:p>
          <a:p>
            <a:pPr>
              <a:spcAft>
                <a:spcPts val="5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Clustering: K-Means, hierarchical clustering and visualisation</a:t>
            </a:r>
          </a:p>
          <a:p>
            <a:pPr>
              <a:spcAft>
                <a:spcPts val="5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• Overall conclusions, limitations and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89920" cy="438912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687568"/>
            <a:ext cx="1042416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The presentation follows the notebook sections and the capstone evaluation rubric.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Three complementary machine-learning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37560" cy="2103120"/>
          </a:xfrm>
          <a:prstGeom prst="roundRect">
            <a:avLst/>
          </a:prstGeom>
          <a:solidFill>
            <a:srgbClr val="F2F4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337560" cy="164592"/>
          </a:xfrm>
          <a:prstGeom prst="rect">
            <a:avLst/>
          </a:prstGeom>
          <a:solidFill>
            <a:srgbClr val="4472B0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29718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4472B0"/>
                </a:solidFill>
                <a:latin typeface="Aptos"/>
              </a:rP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78892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0">
                <a:solidFill>
                  <a:srgbClr val="232A32"/>
                </a:solidFill>
                <a:latin typeface="Aptos"/>
              </a:rPr>
              <a:t>Predict machine energy consumption
Target: machine_energy_kwh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554480"/>
            <a:ext cx="3337560" cy="2103120"/>
          </a:xfrm>
          <a:prstGeom prst="roundRect">
            <a:avLst/>
          </a:prstGeom>
          <a:solidFill>
            <a:srgbClr val="F2F4F7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554480"/>
            <a:ext cx="3337560" cy="16459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965960"/>
            <a:ext cx="29718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tos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60320"/>
            <a:ext cx="278892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0">
                <a:solidFill>
                  <a:srgbClr val="232A32"/>
                </a:solidFill>
                <a:latin typeface="Aptos"/>
              </a:rPr>
              <a:t>Predict maintenance risk
Classes: Low, Medium,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54480"/>
            <a:ext cx="3337560" cy="2103120"/>
          </a:xfrm>
          <a:prstGeom prst="roundRect">
            <a:avLst/>
          </a:prstGeom>
          <a:solidFill>
            <a:srgbClr val="F2F4F7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3337560" cy="16459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965960"/>
            <a:ext cx="29718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Aptos"/>
              </a:rPr>
              <a:t>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560320"/>
            <a:ext cx="278892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0">
                <a:solidFill>
                  <a:srgbClr val="232A32"/>
                </a:solidFill>
                <a:latin typeface="Aptos"/>
              </a:rPr>
              <a:t>Discover operating profiles
Risk labels used only after fitting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Common pipeline: audit → clean → engineer features → preprocess → train → compare → 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996696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0">
                <a:solidFill>
                  <a:srgbClr val="59636E"/>
                </a:solidFill>
                <a:latin typeface="Aptos"/>
              </a:rPr>
              <a:t>All experiments use fixed random state 42 and the notebooks report the evidence used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Why machine operating data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669280" cy="32918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Manufacturing machines produce sensor, production and maintenance signals during operation.</a:t>
            </a:r>
          </a:p>
          <a:p>
            <a:pPr>
              <a:spcAft>
                <a:spcPts val="5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Energy use is influenced by electrical load, production demand and machine condition.</a:t>
            </a:r>
          </a:p>
          <a:p>
            <a:pPr>
              <a:spcAft>
                <a:spcPts val="5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Maintenance risk is reflected in service delay, age, vibration, temperature, downtime and defects.</a:t>
            </a:r>
          </a:p>
          <a:p>
            <a:pPr>
              <a:spcAft>
                <a:spcPts val="5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Unsupervised grouping can reveal operating profiles without using risk labels during 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554480"/>
            <a:ext cx="4389120" cy="2971800"/>
          </a:xfrm>
          <a:prstGeom prst="roundRect">
            <a:avLst/>
          </a:prstGeom>
          <a:solidFill>
            <a:srgbClr val="DDEB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828800"/>
            <a:ext cx="3931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Project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423160"/>
            <a:ext cx="3657600" cy="1645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0">
                <a:solidFill>
                  <a:srgbClr val="232A32"/>
                </a:solidFill>
                <a:latin typeface="Aptos"/>
              </a:rPr>
              <a:t>1. Can energy consumption be predicted accurately?
2. Can machines be assigned to maintenance-risk levels?
3. Are there clearly separated operating profiles?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ptos"/>
              </a:rPr>
              <a:t>The goal is comparison and interpretation, not only a single high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A · DATASET AND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Dataset audit and target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4465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Project observation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Approximately 22,000 machine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Inputs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Sensor, operating, production and maintenance variables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Categoricals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Plant, line, machine type, shift, material, supplier and inspection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Regression target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machine_energy_kwh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Classification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maintenance_risk: Low / Medium /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Data checks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Missing values, duplicates, outliers and data types audited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Picture 8" descr="capstone_regression.ipynb_d678d219-2214-41e8-a11a-ea390cf9d6c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339901"/>
            <a:ext cx="4434840" cy="186730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23760" y="2339901"/>
            <a:ext cx="4434840" cy="1867301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5349240"/>
            <a:ext cx="425196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59636E"/>
                </a:solidFill>
                <a:latin typeface="Aptos"/>
              </a:rPr>
              <a:t>Target distribution: Low, Medium and High all have usable sample volumes.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A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Exploratory findings from machine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pic>
        <p:nvPicPr>
          <p:cNvPr id="8" name="Picture 7" descr="capstone_regression.ipynb_488369d7-ec15-432b-9299-0a2bc6ffad3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988" y="1280160"/>
            <a:ext cx="4499422" cy="3794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64988" y="1280160"/>
            <a:ext cx="4499422" cy="3794760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pstone_regression.ipynb_491886e0-a998-45ea-81bd-de245ee3106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8357"/>
            <a:ext cx="5440680" cy="359836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1378357"/>
            <a:ext cx="5440680" cy="3598365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5138928"/>
            <a:ext cx="3566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Aptos"/>
              </a:rPr>
              <a:t>Correlation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5138928"/>
            <a:ext cx="3566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Aptos"/>
              </a:rPr>
              <a:t>Feature–energy relationship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698480" cy="502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2A32"/>
                </a:solidFill>
                <a:latin typeface="Aptos"/>
              </a:defRPr>
            </a:pPr>
            <a:r>
              <a:t>• motor_current_a has the strongest relationship with energy consumption.</a:t>
            </a:r>
          </a:p>
          <a:p>
            <a:pPr>
              <a:spcAft>
                <a:spcPts val="500"/>
              </a:spcAft>
              <a:defRPr sz="1050">
                <a:solidFill>
                  <a:srgbClr val="232A32"/>
                </a:solidFill>
                <a:latin typeface="Aptos"/>
              </a:defRPr>
            </a:pPr>
            <a:r>
              <a:t>• production_rate_units_hr and load_percent are strongly related to operating demand.</a:t>
            </a:r>
          </a:p>
          <a:p>
            <a:pPr>
              <a:spcAft>
                <a:spcPts val="500"/>
              </a:spcAft>
              <a:defRPr sz="1050">
                <a:solidFill>
                  <a:srgbClr val="232A32"/>
                </a:solidFill>
                <a:latin typeface="Aptos"/>
              </a:defRPr>
            </a:pPr>
            <a:r>
              <a:t>• Temperature, vibration, downtime and maintenance variables provide machine-health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B ·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Cleaning, leakage control and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3337560" cy="1417320"/>
          </a:xfrm>
          <a:prstGeom prst="roundRect">
            <a:avLst/>
          </a:prstGeom>
          <a:solidFill>
            <a:srgbClr val="F2F4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645920"/>
            <a:ext cx="2377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ptos"/>
              </a:rP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057400"/>
            <a:ext cx="242316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Missing values, duplicates and outliers checked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37560" cy="1417320"/>
          </a:xfrm>
          <a:prstGeom prst="roundRect">
            <a:avLst/>
          </a:prstGeom>
          <a:solidFill>
            <a:srgbClr val="F2F4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27632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645920"/>
            <a:ext cx="2377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057400"/>
            <a:ext cx="242316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Median/mode imputation with outlier retention justified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463040"/>
            <a:ext cx="3337560" cy="1417320"/>
          </a:xfrm>
          <a:prstGeom prst="roundRect">
            <a:avLst/>
          </a:prstGeom>
          <a:solidFill>
            <a:srgbClr val="F2F4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1645920"/>
            <a:ext cx="2377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ptos"/>
              </a:rPr>
              <a:t>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2057400"/>
            <a:ext cx="242316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bearing_temp_rise_c = bearing temperature − ambient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3337560" cy="1417320"/>
          </a:xfrm>
          <a:prstGeom prst="roundRect">
            <a:avLst/>
          </a:prstGeom>
          <a:solidFill>
            <a:srgbClr val="F2F4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547872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566160"/>
            <a:ext cx="2377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ptos"/>
              </a:rPr>
              <a:t>Encode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977640"/>
            <a:ext cx="242316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Ordinal encoding for categorical descriptors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383280"/>
            <a:ext cx="3337560" cy="1417320"/>
          </a:xfrm>
          <a:prstGeom prst="roundRect">
            <a:avLst/>
          </a:prstGeom>
          <a:solidFill>
            <a:srgbClr val="F2F4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3547872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3566160"/>
            <a:ext cx="2377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ptos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977640"/>
            <a:ext cx="242316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StandardScaler for numerical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383280"/>
            <a:ext cx="3337560" cy="1417320"/>
          </a:xfrm>
          <a:prstGeom prst="roundRect">
            <a:avLst/>
          </a:prstGeom>
          <a:solidFill>
            <a:srgbClr val="F2F4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547872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3566160"/>
            <a:ext cx="2377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ptos"/>
              </a:rP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3977640"/>
            <a:ext cx="242316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80:20 split; classification split stratified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Aptos"/>
              </a:rPr>
              <a:t>Scalers and encoders are fitted on training data only to avoid data 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C ·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Ten regression algorithms on a common test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45720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Algorithms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937760" cy="29260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Linear Regression, Ridge, Lasso and ElasticNet</a:t>
            </a:r>
          </a:p>
          <a:p>
            <a:pPr>
              <a:spcAft>
                <a:spcPts val="5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Polynomial Regression (degree 2)</a:t>
            </a:r>
          </a:p>
          <a:p>
            <a:pPr>
              <a:spcAft>
                <a:spcPts val="5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Decision Tree and Random Forest Regressors</a:t>
            </a:r>
          </a:p>
          <a:p>
            <a:pPr>
              <a:spcAft>
                <a:spcPts val="5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Gradient Boosting Regressor</a:t>
            </a:r>
          </a:p>
          <a:p>
            <a:pPr>
              <a:spcAft>
                <a:spcPts val="5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Support Vector Regressor and KNN Regressor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029200" cy="3383280"/>
          </a:xfrm>
          <a:prstGeom prst="roundRect">
            <a:avLst/>
          </a:prstGeom>
          <a:solidFill>
            <a:srgbClr val="DDEB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5720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Evaluation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206240" cy="19202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0">
                <a:solidFill>
                  <a:srgbClr val="232A32"/>
                </a:solidFill>
                <a:latin typeface="Aptos"/>
              </a:rPr>
              <a:t>Same preprocessed features
Same held-out test set
R², RMSE and MAE
5-fold CV for the top two models
GridSearchCV for Gradient Boosting and Random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C ·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Comparison of all ten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201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69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R²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RMSE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0.8322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4.5696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3.6617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0.8197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4.7360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3.7987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SVR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0.8103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4.8582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3.8530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Polynomial (degree 2)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0.7684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5.3682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4.1426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Lasso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0.7530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5.5431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4.1400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Linear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0.7530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5.5433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4.1389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0.7530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5.5433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4.1390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ElasticNet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0.7528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5.5454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4.1452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0.6263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6.8184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5.4260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KNN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0.4780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8.0588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6.3205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Aptos"/>
              </a:rPr>
              <a:t>Gradient Boosting achieves the highest test R² and the lowest error; KNN is weakest on this mixed operating-feature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C ·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Tuning and cross-validation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Default R²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Tuned R²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Improvement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5-fold CV R²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0.8322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0.8334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+0.0012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0.8267 ± 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0.8197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0.8207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+0.0010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32A32"/>
                          </a:solidFill>
                          <a:latin typeface="Aptos"/>
                        </a:rPr>
                        <a:t>0.8152 ± 0.0047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3520440"/>
            <a:ext cx="10698480" cy="160020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794760"/>
            <a:ext cx="101498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2E5E31"/>
                </a:solidFill>
                <a:latin typeface="Aptos"/>
              </a:rPr>
              <a:t>Selected regression model: Gradient Boosting Regressor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43400"/>
            <a:ext cx="9875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0">
                <a:solidFill>
                  <a:srgbClr val="232A32"/>
                </a:solidFill>
                <a:latin typeface="Aptos"/>
              </a:rPr>
              <a:t>The tuned model combines the strongest test performance with stable five-fold R² across training folds.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C ·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Diagnostics and manufacturing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pic>
        <p:nvPicPr>
          <p:cNvPr id="8" name="Picture 7" descr="capstone_regression.ipynb_8603159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3828"/>
            <a:ext cx="3749039" cy="22273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583828"/>
            <a:ext cx="3749039" cy="2227303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pstone_regression.ipynb_d6f9aab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84960"/>
            <a:ext cx="3749039" cy="2225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51960" y="1584960"/>
            <a:ext cx="3749039" cy="2225040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apstone_regression.ipynb_668e569e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0084"/>
            <a:ext cx="3657600" cy="21147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46720" y="1640084"/>
            <a:ext cx="3657600" cy="2114791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4224528"/>
            <a:ext cx="1371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Residuals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224528"/>
            <a:ext cx="17373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Predicted vs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224528"/>
            <a:ext cx="17373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Feature importance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0607040" cy="7315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t>• motor_current_a contributes approximately 68.7% of Random Forest importance.</a:t>
            </a:r>
          </a:p>
          <a:p>
            <a:pPr>
              <a:spcAft>
                <a:spcPts val="5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t>• Production rate and downtime follow, matching the physical relationship between workload, machine activity and energy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D ·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Ten classifiers for maintenance-risk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8288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Aptos"/>
              </a:rPr>
              <a:t>Part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011680" cy="19202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600" b="0">
                <a:solidFill>
                  <a:srgbClr val="232A32"/>
                </a:solidFill>
                <a:latin typeface="Aptos"/>
              </a:rPr>
              <a:t>Logistic Regression
KNN
Gaussian Naive Bayes
Decision Tree
SVC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417320"/>
            <a:ext cx="18288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100" b="1">
                <a:solidFill>
                  <a:srgbClr val="2E7D32"/>
                </a:solidFill>
                <a:latin typeface="Aptos"/>
              </a:rPr>
              <a:t>Part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011680" cy="19202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600" b="0">
                <a:solidFill>
                  <a:srgbClr val="232A32"/>
                </a:solidFill>
                <a:latin typeface="Aptos"/>
              </a:rPr>
              <a:t>Random Forest
AdaBoost
Gradient Boosting
Bagging
MLP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4663440" cy="3108960"/>
          </a:xfrm>
          <a:prstGeom prst="roundRect">
            <a:avLst/>
          </a:prstGeom>
          <a:solidFill>
            <a:srgbClr val="DDEB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737360"/>
            <a:ext cx="42062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286000"/>
            <a:ext cx="3657600" cy="1828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600" b="0">
                <a:solidFill>
                  <a:srgbClr val="232A32"/>
                </a:solidFill>
                <a:latin typeface="Aptos"/>
              </a:rPr>
              <a:t>Accuracy
Weighted precision and recall
Weighted F1-score
Confusion matrices
Multiclass ROC-AUC using OvR
Five-fold CV for the top two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D ·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Consolidated comparison of all ten classifiers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80160"/>
          <a:ext cx="1156715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2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Algorithm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0.8239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0.6759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0.6743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0.6759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0.6731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0.8241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AdaBoost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0.7863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Bagging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0.6716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0.6706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0.6716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0.6683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0.8184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Support Vector Machine (SVC)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0.8137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0.6709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0.6661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0.6709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0.6639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0.8192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MLP (Neural Network)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0.8069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0.6536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0.6609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0.6536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0.6531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0.7957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Naive Bayes (Gaussian)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0.6527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0.8007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K-Nearest Neighbors (KNN)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0.5430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0.5661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0.5430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0.5276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32A32"/>
                          </a:solidFill>
                          <a:latin typeface="Aptos"/>
                        </a:rPr>
                        <a:t>0.6931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897880"/>
            <a:ext cx="107899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Aptos"/>
              </a:rPr>
              <a:t>Gradient Boosting ranks first by weighted F1; Logistic Regression is a close runner-up and has the highest ROC-AUC.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D ·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Hyperparameter tuning and model stability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25880"/>
          <a:ext cx="5669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Part-B 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Default F1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Tuned F1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Change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0.6652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AdaBoost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0.6612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0.6709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+0.0097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0.6742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0.6747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+0.0006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Bagging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0.6580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0.6683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+0.0103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MLP (Neural Network)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-0.0117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325880"/>
          <a:ext cx="5303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Top-two model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CV accuracy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CV weighted F1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0.6707 ± 0.0084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0.6676 ± 0.0079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0.6736 ± 0.0072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0.6703 ± 0.0068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Picture 9" descr="capstone_classification.ipynb_a193f6e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18870"/>
            <a:ext cx="5303520" cy="185469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3118870"/>
            <a:ext cx="5303520" cy="1854699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5074920"/>
            <a:ext cx="24688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Aptos"/>
              </a:rPr>
              <a:t>MLP training/validation curves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5212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ptos"/>
              </a:rPr>
              <a:t>Largest Part-B F1 improvement: Bagging (+0.0103)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D ·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Class-level results and domain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4754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Risk class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0.7884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0.6776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0.7288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825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0.7102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0.7902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0.7481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1969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0.5767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0.5386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0.5570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32A32"/>
                          </a:solidFill>
                          <a:latin typeface="Aptos"/>
                        </a:rPr>
                        <a:t>1606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capstone_classification.ipynb_7a28b27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129" y="1298448"/>
            <a:ext cx="3088461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51129" y="1298448"/>
            <a:ext cx="3088461" cy="2971800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4343400"/>
            <a:ext cx="23317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Aptos"/>
              </a:rPr>
              <a:t>Final Gradient Boosting confusion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10789920" cy="566928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days_since_maintenance is the strongest risk signal in the logistic odds-ratio analysis.</a:t>
            </a:r>
          </a:p>
          <a:p>
            <a:pPr>
              <a:spcAft>
                <a:spcPts val="5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Machine age, bearing temperature, temperature rise and vibration reflect wear and mechanical stress.</a:t>
            </a:r>
          </a:p>
          <a:p>
            <a:pPr>
              <a:spcAft>
                <a:spcPts val="5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Medium risk is the hardest class because it is a transition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49240"/>
            <a:ext cx="10515600" cy="50292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486400"/>
            <a:ext cx="996696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150" b="1">
                <a:solidFill>
                  <a:srgbClr val="2E5E31"/>
                </a:solidFill>
                <a:latin typeface="Aptos"/>
              </a:rPr>
              <a:t>Operational use: screening and prioritisation followed by engineering inspection; importance indicates association, not causation.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E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Unsupervised operating-profile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303520" cy="33375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  <a:latin typeface="Aptos"/>
              </a:defRPr>
            </a:pPr>
            <a:r>
              <a:t>• Numeric operating and sensor predictors were selected; target labels were held out during fitting.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  <a:latin typeface="Aptos"/>
              </a:defRPr>
            </a:pPr>
            <a:r>
              <a:t>• The analysis used a reproducible sample of 4,000 records.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  <a:latin typeface="Aptos"/>
              </a:defRPr>
            </a:pPr>
            <a:r>
              <a:t>• Values were winsorised at the 1st and 99th percentiles, then standardised.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  <a:latin typeface="Aptos"/>
              </a:defRPr>
            </a:pPr>
            <a:r>
              <a:t>• K-Means scanned k = 2…10; Agglomerative clustering compared four linkage strategies.</a:t>
            </a:r>
          </a:p>
        </p:txBody>
      </p:sp>
      <p:pic>
        <p:nvPicPr>
          <p:cNvPr id="9" name="Picture 8" descr="capstone_clustering.ipynb_a0e6075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04452"/>
            <a:ext cx="5532120" cy="307185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2200" y="1504452"/>
            <a:ext cx="5532120" cy="3071855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4828032"/>
            <a:ext cx="4800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Cluster profile heatmap: mean standardised feature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ptos"/>
              </a:rPr>
              <a:t>Risk labels are used only after fitting for interpretation and external validation.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E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K-Means and Agglomerative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pic>
        <p:nvPicPr>
          <p:cNvPr id="8" name="Picture 7" descr="capstone_clustering.ipynb_a3dcfa0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97049"/>
            <a:ext cx="5623560" cy="19666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897049"/>
            <a:ext cx="5623560" cy="1966620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pstone_clustering.ipynb_70523e6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704" y="1280160"/>
            <a:ext cx="5011110" cy="3200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32704" y="1280160"/>
            <a:ext cx="5011110" cy="3200400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4553712"/>
            <a:ext cx="18288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Elbow / silhouette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553712"/>
            <a:ext cx="219456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Selected-linkage dendrogram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148840" y="4800600"/>
          <a:ext cx="790956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7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7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Algorithm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Silhouette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Davies-Bouldin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Calinski-Harabasz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K-Means (k=5)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0.0564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3.0154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203.3723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Agglomerative (ward linkage, k=5)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0.0214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4.1216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A32"/>
                          </a:solidFill>
                          <a:latin typeface="Aptos"/>
                        </a:rPr>
                        <a:t>106.4723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SECTION E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PCA, t-SNE and cluster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pic>
        <p:nvPicPr>
          <p:cNvPr id="8" name="Picture 7" descr="capstone_clustering.ipynb_cc41a9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83222"/>
            <a:ext cx="5623560" cy="22685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883222"/>
            <a:ext cx="5623560" cy="2268595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pstone_clustering.ipynb_7935be2b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110"/>
            <a:ext cx="5440680" cy="21948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920110"/>
            <a:ext cx="5440680" cy="2194819"/>
          </a:xfrm>
          <a:prstGeom prst="rect">
            <a:avLst/>
          </a:prstGeom>
          <a:noFill/>
          <a:ln w="12700"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4892040"/>
            <a:ext cx="16459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PCA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892040"/>
            <a:ext cx="16459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t-SNE 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85232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50" b="1">
                <a:solidFill>
                  <a:srgbClr val="1F4E79"/>
                </a:solidFill>
                <a:latin typeface="Aptos"/>
              </a:rPr>
              <a:t>Weak silhouette: operating profiles overlap. Use clusters as exploratory segments, not sharply separated machine types.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4472B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0972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232A32"/>
                </a:solidFill>
                <a:latin typeface="Aptos"/>
              </a:rPr>
              <a:t>What we learned from the three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1292840" cy="2286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9636E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828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9636E"/>
                </a:solidFill>
                <a:latin typeface="Aptos"/>
              </a:rPr>
              <a:t>Notebook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515600" cy="34747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Gradient Boosting is the strongest regression model for energy prediction.</a:t>
            </a:r>
          </a:p>
          <a:p>
            <a:pPr>
              <a:spcAft>
                <a:spcPts val="5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Gradient Boosting is the best classification model by weighted F1, but Logistic Regression is very close.</a:t>
            </a:r>
          </a:p>
          <a:p>
            <a:pPr>
              <a:spcAft>
                <a:spcPts val="5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Maintenance delay, age, thermal behaviour, vibration and downtime are meaningful machine-health signals.</a:t>
            </a:r>
          </a:p>
          <a:p>
            <a:pPr>
              <a:spcAft>
                <a:spcPts val="5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clustering analysis finds overlapping operating profiles rather than strongly separated groups.</a:t>
            </a:r>
          </a:p>
          <a:p>
            <a:pPr>
              <a:spcAft>
                <a:spcPts val="5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complete pipeline is reproducible and uses train-only preprocessing to control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74920"/>
            <a:ext cx="1042416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44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257800"/>
            <a:ext cx="9875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Main limitation: Medium-risk classification and weak unsupervised separation require continued engineering review and richer time-series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137970"/>
            <a:ext cx="1088136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3400" b="1" dirty="0">
                <a:solidFill>
                  <a:srgbClr val="1F4E79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" y="2912364"/>
            <a:ext cx="10881360" cy="43088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endParaRPr sz="2200" b="0" dirty="0">
              <a:solidFill>
                <a:srgbClr val="232A32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0" y="2720340"/>
            <a:ext cx="6675120" cy="36576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5460" y="2990647"/>
            <a:ext cx="10881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0">
                <a:solidFill>
                  <a:srgbClr val="59636E"/>
                </a:solidFill>
                <a:latin typeface="Aptos"/>
              </a:rPr>
              <a:t>Sai Rakesh Reddy  ·  Akhil Reddy  ·  Varanasi Rohit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04388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0" dirty="0">
                <a:solidFill>
                  <a:srgbClr val="232A32"/>
                </a:solidFill>
                <a:latin typeface="Aptos"/>
              </a:rPr>
              <a:t>23CSE301 Machine Learning
Amrita Vishwa Vidyapeetham, Coimbatore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1526</Words>
  <Application>Microsoft Office PowerPoint</Application>
  <PresentationFormat>Widescreen</PresentationFormat>
  <Paragraphs>402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Varanasi Rohit - [CB.SC.U4CSE24561]</cp:lastModifiedBy>
  <cp:revision>2</cp:revision>
  <dcterms:created xsi:type="dcterms:W3CDTF">2013-01-27T09:14:16Z</dcterms:created>
  <dcterms:modified xsi:type="dcterms:W3CDTF">2026-10-22T12:22:16Z</dcterms:modified>
  <cp:category/>
</cp:coreProperties>
</file>